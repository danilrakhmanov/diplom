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Inter" panose="020B0502030000000004" pitchFamily="34" charset="0"/>
      <p:regular r:id="rId19"/>
      <p:bold r:id="rId20"/>
      <p:italic r:id="rId21"/>
      <p:boldItalic r:id="rId22"/>
    </p:embeddedFont>
    <p:embeddedFont>
      <p:font typeface="Inter Ligh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2979E0-BFE1-480D-BABE-43956A324003}">
  <a:tblStyle styleId="{3D2979E0-BFE1-480D-BABE-43956A3240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Здесь необходимо разместить видео ролик работы системы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bg>
      <p:bgPr>
        <a:solidFill>
          <a:srgbClr val="000000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15"/>
          <p:cNvGrpSpPr/>
          <p:nvPr/>
        </p:nvGrpSpPr>
        <p:grpSpPr>
          <a:xfrm>
            <a:off x="304800" y="285750"/>
            <a:ext cx="8534400" cy="2701499"/>
            <a:chOff x="812800" y="-1117089"/>
            <a:chExt cx="22758400" cy="7203991"/>
          </a:xfrm>
        </p:grpSpPr>
        <p:sp>
          <p:nvSpPr>
            <p:cNvPr id="48" name="Google Shape;48;p15"/>
            <p:cNvSpPr txBox="1"/>
            <p:nvPr/>
          </p:nvSpPr>
          <p:spPr>
            <a:xfrm>
              <a:off x="812800" y="-1117089"/>
              <a:ext cx="22758400" cy="2585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Федеральное государственное бюджетное образовательное учреждение высшего образования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«Казанский национальный исследовательский  технологический университет » 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49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(ФГБОУ ВО «КНИТУ»)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5"/>
            <p:cNvSpPr txBox="1"/>
            <p:nvPr/>
          </p:nvSpPr>
          <p:spPr>
            <a:xfrm>
              <a:off x="4310389" y="2762918"/>
              <a:ext cx="15763224" cy="33239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Выпускная квалификационная работа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 тему: «Разработка информационной системы магазина спортивных товаров»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15"/>
          <p:cNvSpPr txBox="1"/>
          <p:nvPr/>
        </p:nvSpPr>
        <p:spPr>
          <a:xfrm>
            <a:off x="5429238" y="3256062"/>
            <a:ext cx="4047750" cy="129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Руководитель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доцент каф. ИСУИР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Салимьянов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Инис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Тахирович</a:t>
            </a:r>
            <a:endParaRPr lang="ru-RU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Выполнил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ru-RU" dirty="0"/>
              <a:t>студент 4321-23гр.</a:t>
            </a:r>
            <a:br>
              <a:rPr lang="ru-RU" dirty="0"/>
            </a:b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Рахманов Данил</a:t>
            </a:r>
            <a:r>
              <a:rPr lang="en-US" sz="1415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5"/>
          <p:cNvSpPr txBox="1"/>
          <p:nvPr/>
        </p:nvSpPr>
        <p:spPr>
          <a:xfrm>
            <a:off x="3909963" y="4821000"/>
            <a:ext cx="3038550" cy="3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Казань 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496119" y="836488"/>
            <a:ext cx="5350701" cy="51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АКТУАЛЬНОСТЬ РАБОТЫ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496119" y="1438870"/>
            <a:ext cx="8151763" cy="10567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496119" y="1644328"/>
            <a:ext cx="4004965" cy="1308571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477069" y="1644328"/>
            <a:ext cx="76200" cy="1308571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714077" y="180513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Рост рынка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714077" y="2111648"/>
            <a:ext cx="3626197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Рост рынка спортивных товаров требует автоматизации учёта продаж и складских остатков.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642842" y="1644328"/>
            <a:ext cx="4005039" cy="1308571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4623792" y="1644328"/>
            <a:ext cx="76200" cy="1308571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4860801" y="180513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Ручной учёт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4860801" y="2111648"/>
            <a:ext cx="3626272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Многие малые магазины до сих пор используют Excel или бумажные журналы, что приводит к ошибкам и потерям времени.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496119" y="3094658"/>
            <a:ext cx="4004965" cy="1535385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477069" y="3094658"/>
            <a:ext cx="76200" cy="1535385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714077" y="325546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Контроль и анализ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714077" y="3561978"/>
            <a:ext cx="362619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Отсутствие единой системы усложняет контроль наличия товаров, учёт клиентов и анализ продаж.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642842" y="3094658"/>
            <a:ext cx="4005039" cy="1535385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623792" y="3094658"/>
            <a:ext cx="76200" cy="1535385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860801" y="3255466"/>
            <a:ext cx="1772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Эффективность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860801" y="3561978"/>
            <a:ext cx="3626272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Разработанная информационная система позволяет автоматизировать ключевые бизнес-процессы и повысить эффективность работы магазина.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449610" y="435988"/>
            <a:ext cx="3067348" cy="321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ПОСТАНОВКА ЗАДАЧИ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49610" y="983679"/>
            <a:ext cx="8244780" cy="9599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449610" y="1156320"/>
            <a:ext cx="8244780" cy="830461"/>
          </a:xfrm>
          <a:prstGeom prst="roundRect">
            <a:avLst>
              <a:gd name="adj" fmla="val 6498"/>
            </a:avLst>
          </a:prstGeom>
          <a:solidFill>
            <a:srgbClr val="B6D6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048" y="1321371"/>
            <a:ext cx="200695" cy="16058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907182" y="1304776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lang="en-US" sz="12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Цель работы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907182" y="1621854"/>
            <a:ext cx="7658770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Разработать информационную систему для автоматизации работы магазина спортивных товаров.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49610" y="2161356"/>
            <a:ext cx="1605930" cy="200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lang="en-US" sz="12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Задачи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49610" y="2536627"/>
            <a:ext cx="256952" cy="16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49610" y="2740670"/>
            <a:ext cx="2670646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449610" y="2833464"/>
            <a:ext cx="2670646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спроектировать структуру базы данных системы;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3236640" y="2536627"/>
            <a:ext cx="256952" cy="16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236640" y="2740670"/>
            <a:ext cx="2670646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3236640" y="2833464"/>
            <a:ext cx="2670646" cy="587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реализовать backend API для работы с товарами, клиентами, заказами и остатками;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6023670" y="2536627"/>
            <a:ext cx="256952" cy="16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6023670" y="2740670"/>
            <a:ext cx="2670646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6023670" y="2833464"/>
            <a:ext cx="2670646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реализовать просмотр сводных показателей магазина;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49610" y="3633936"/>
            <a:ext cx="256952" cy="16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49610" y="3837980"/>
            <a:ext cx="4064124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449610" y="3930774"/>
            <a:ext cx="4064124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разработать frontend-интерфейс для работы с каталогом, клиентами и заказами;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630117" y="3633936"/>
            <a:ext cx="256952" cy="160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 Light"/>
              <a:buNone/>
            </a:pPr>
            <a:r>
              <a:rPr lang="en-US" sz="10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30117" y="3837980"/>
            <a:ext cx="4064198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4630117" y="3930774"/>
            <a:ext cx="4064198" cy="39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добавить возможность контроля товаров с низким остатком на складе.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449610" y="4549899"/>
            <a:ext cx="8244780" cy="195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496119" y="403175"/>
            <a:ext cx="2693566" cy="336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АНАЛОГИ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96119" y="1029370"/>
            <a:ext cx="8151763" cy="10046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496119" y="3296989"/>
            <a:ext cx="8151763" cy="1089273"/>
          </a:xfrm>
          <a:prstGeom prst="roundRect">
            <a:avLst>
              <a:gd name="adj" fmla="val 5193"/>
            </a:avLst>
          </a:prstGeom>
          <a:solidFill>
            <a:srgbClr val="B6D6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0734" y="3499842"/>
            <a:ext cx="168325" cy="13461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933673" y="3458542"/>
            <a:ext cx="7579593" cy="21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lang="en-US" sz="10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Вывод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933673" y="3783732"/>
            <a:ext cx="7579593" cy="4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Разрабатываемое решение — бесплатное, простое в установке и ориентированное именно на учёт спортивных товаров с бонусной программой для клиентов.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96119" y="4530179"/>
            <a:ext cx="8151763" cy="21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18"/>
          <p:cNvGraphicFramePr/>
          <p:nvPr>
            <p:extLst>
              <p:ext uri="{D42A27DB-BD31-4B8C-83A1-F6EECF244321}">
                <p14:modId xmlns:p14="http://schemas.microsoft.com/office/powerpoint/2010/main" val="89940706"/>
              </p:ext>
            </p:extLst>
          </p:nvPr>
        </p:nvGraphicFramePr>
        <p:xfrm>
          <a:off x="889410" y="1154535"/>
          <a:ext cx="7365150" cy="2027145"/>
        </p:xfrm>
        <a:graphic>
          <a:graphicData uri="http://schemas.openxmlformats.org/drawingml/2006/table">
            <a:tbl>
              <a:tblPr>
                <a:noFill/>
                <a:tableStyleId>{3D2979E0-BFE1-480D-BABE-43956A324003}</a:tableStyleId>
              </a:tblPr>
              <a:tblGrid>
                <a:gridCol w="245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Система</a:t>
                      </a:r>
                      <a:endParaRPr/>
                    </a:p>
                  </a:txBody>
                  <a:tcPr marL="9145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Плюсы</a:t>
                      </a:r>
                      <a:endParaRPr/>
                    </a:p>
                  </a:txBody>
                  <a:tcPr marL="15240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Минусы</a:t>
                      </a:r>
                      <a:endParaRPr/>
                    </a:p>
                  </a:txBody>
                  <a:tcPr marL="15240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1С:Розница</a:t>
                      </a:r>
                      <a:endParaRPr sz="1100" b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5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latin typeface="Inter"/>
                          <a:ea typeface="Inter"/>
                          <a:cs typeface="Inter"/>
                          <a:sym typeface="Inter"/>
                        </a:rPr>
                        <a:t>Много функций, надёжность</a:t>
                      </a:r>
                      <a:endParaRPr/>
                    </a:p>
                  </a:txBody>
                  <a:tcPr marL="15240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latin typeface="Inter"/>
                          <a:ea typeface="Inter"/>
                          <a:cs typeface="Inter"/>
                          <a:sym typeface="Inter"/>
                        </a:rPr>
                        <a:t>Высокая стоимость, сложность внедрения</a:t>
                      </a:r>
                      <a:endParaRPr/>
                    </a:p>
                  </a:txBody>
                  <a:tcPr marL="152400" marR="9145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МойСклад</a:t>
                      </a:r>
                      <a:endParaRPr sz="1100" b="0" dirty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5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latin typeface="Inter"/>
                          <a:ea typeface="Inter"/>
                          <a:cs typeface="Inter"/>
                          <a:sym typeface="Inter"/>
                        </a:rPr>
                        <a:t>Облачное решение, удобный учёт</a:t>
                      </a:r>
                      <a:endParaRPr/>
                    </a:p>
                  </a:txBody>
                  <a:tcPr marL="15240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latin typeface="Inter"/>
                          <a:ea typeface="Inter"/>
                          <a:cs typeface="Inter"/>
                          <a:sym typeface="Inter"/>
                        </a:rPr>
                        <a:t>Ограничения в бесплатной версии</a:t>
                      </a:r>
                      <a:endParaRPr/>
                    </a:p>
                  </a:txBody>
                  <a:tcPr marL="152400" marR="9145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Excel / ручной учёт</a:t>
                      </a:r>
                      <a:endParaRPr sz="1100" b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5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>
                          <a:latin typeface="Inter"/>
                          <a:ea typeface="Inter"/>
                          <a:cs typeface="Inter"/>
                          <a:sym typeface="Inter"/>
                        </a:rPr>
                        <a:t>Доступность</a:t>
                      </a:r>
                      <a:endParaRPr/>
                    </a:p>
                  </a:txBody>
                  <a:tcPr marL="152400" marR="15240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Отсутствие</a:t>
                      </a:r>
                      <a:r>
                        <a:rPr lang="en-US" sz="1100" b="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00" b="0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автоматизации</a:t>
                      </a:r>
                      <a:r>
                        <a:rPr lang="en-US" sz="1100" b="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100" b="0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много</a:t>
                      </a:r>
                      <a:r>
                        <a:rPr lang="en-US" sz="1100" b="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00" b="0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ручной</a:t>
                      </a:r>
                      <a:r>
                        <a:rPr lang="en-US" sz="1100" b="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100" b="0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работы</a:t>
                      </a:r>
                      <a:r>
                        <a:rPr lang="en-US" sz="1100" b="0" dirty="0">
                          <a:latin typeface="Inter"/>
                          <a:ea typeface="Inter"/>
                          <a:cs typeface="Inter"/>
                          <a:sym typeface="Inter"/>
                        </a:rPr>
                        <a:t>, </a:t>
                      </a:r>
                      <a:r>
                        <a:rPr lang="en-US" sz="1100" b="0" dirty="0" err="1">
                          <a:latin typeface="Inter"/>
                          <a:ea typeface="Inter"/>
                          <a:cs typeface="Inter"/>
                          <a:sym typeface="Inter"/>
                        </a:rPr>
                        <a:t>ошибки</a:t>
                      </a:r>
                      <a:endParaRPr dirty="0"/>
                    </a:p>
                  </a:txBody>
                  <a:tcPr marL="152400" marR="91450" marT="95250" marB="95250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1E652D-BC47-46FE-926D-8BC7BCBF9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415" y="1602001"/>
            <a:ext cx="652314" cy="36267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2A0587-818F-45AF-89FA-CEF351DF2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459" y="2036629"/>
            <a:ext cx="546226" cy="5462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7DDABCA-B5BC-4D20-B0D5-B5DC4FF559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415" y="2654813"/>
            <a:ext cx="710780" cy="4442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27;p19">
            <a:extLst>
              <a:ext uri="{FF2B5EF4-FFF2-40B4-BE49-F238E27FC236}">
                <a16:creationId xmlns:a16="http://schemas.microsoft.com/office/drawing/2014/main" id="{8C889B18-91BB-4202-BCC8-EF6F82E1249F}"/>
              </a:ext>
            </a:extLst>
          </p:cNvPr>
          <p:cNvSpPr/>
          <p:nvPr/>
        </p:nvSpPr>
        <p:spPr>
          <a:xfrm>
            <a:off x="3234482" y="2123108"/>
            <a:ext cx="2693119" cy="1325166"/>
          </a:xfrm>
          <a:prstGeom prst="roundRect">
            <a:avLst>
              <a:gd name="adj" fmla="val 6932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496119" y="1372121"/>
            <a:ext cx="6012879" cy="3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ИНСТРУМЕНТЫ И ТЕХНОЛОГИИ РАЗРАБОТКИ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96119" y="1952551"/>
            <a:ext cx="8151763" cy="9525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9"/>
          <p:cNvSpPr/>
          <p:nvPr/>
        </p:nvSpPr>
        <p:spPr>
          <a:xfrm>
            <a:off x="404292" y="2123108"/>
            <a:ext cx="2693119" cy="1325166"/>
          </a:xfrm>
          <a:prstGeom prst="roundRect">
            <a:avLst>
              <a:gd name="adj" fmla="val 6932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531837" y="2237929"/>
            <a:ext cx="1594842" cy="19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lang="en-US" sz="12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531837" y="2552030"/>
            <a:ext cx="2438028" cy="662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Char char="•"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HTML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Char char="•"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Char char="•"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JavaScript (Fetch API)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321546" y="2237929"/>
            <a:ext cx="1594842" cy="19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lang="en-US" sz="12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321546" y="2514712"/>
            <a:ext cx="2509465" cy="856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Char char="•"/>
            </a:pPr>
            <a:r>
              <a:rPr lang="en-US" sz="10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Встроенный</a:t>
            </a:r>
            <a:r>
              <a:rPr lang="en-US" sz="10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HTTP-</a:t>
            </a:r>
            <a:r>
              <a:rPr lang="en-US" sz="10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сервер</a:t>
            </a:r>
            <a:r>
              <a:rPr lang="en-US" sz="10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0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без</a:t>
            </a:r>
            <a:r>
              <a:rPr lang="en-US" sz="10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внешних</a:t>
            </a:r>
            <a:r>
              <a:rPr lang="en-US" sz="10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библиотек</a:t>
            </a:r>
            <a:r>
              <a:rPr lang="en-US" sz="10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SQLite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6055147" y="2123108"/>
            <a:ext cx="2693119" cy="1325166"/>
          </a:xfrm>
          <a:prstGeom prst="roundRect">
            <a:avLst>
              <a:gd name="adj" fmla="val 6932"/>
            </a:avLst>
          </a:prstGeom>
          <a:solidFill>
            <a:srgbClr val="F3F4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6182692" y="2237929"/>
            <a:ext cx="2438028" cy="39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lang="en-US" sz="12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База данных и инфраструктура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6182692" y="2751311"/>
            <a:ext cx="2438028" cy="42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Char char="•"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SQLite (файл sportstore.db)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Char char="•"/>
            </a:pPr>
            <a:r>
              <a:rPr lang="en-US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Git / GitHub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96119" y="3577456"/>
            <a:ext cx="8151763" cy="193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/>
        </p:nvSpPr>
        <p:spPr>
          <a:xfrm>
            <a:off x="496119" y="565770"/>
            <a:ext cx="5203863" cy="402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ПРОЕКТИРОВАНИЕ СИСТЕМЫ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496119" y="938882"/>
            <a:ext cx="8151763" cy="6846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496119" y="1018356"/>
            <a:ext cx="7984852" cy="172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Система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спроектирована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как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веб-приложение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состоящее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из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клиентской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части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серверной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части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базы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5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данных</a:t>
            </a:r>
            <a:r>
              <a:rPr lang="en-US" sz="105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496119" y="1255142"/>
            <a:ext cx="1490886" cy="172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lang="en-US" sz="10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Основные сущности: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496119" y="1517675"/>
            <a:ext cx="1993032" cy="626343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486594" y="1517675"/>
            <a:ext cx="38100" cy="626343"/>
          </a:xfrm>
          <a:prstGeom prst="roundRect">
            <a:avLst>
              <a:gd name="adj" fmla="val 101581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626343" y="1619324"/>
            <a:ext cx="1151855" cy="14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lang="en-US" sz="9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categories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626343" y="1799183"/>
            <a:ext cx="1761158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категории спортивных товаров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2548979" y="1517675"/>
            <a:ext cx="1993106" cy="626343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2539454" y="1517675"/>
            <a:ext cx="38100" cy="626343"/>
          </a:xfrm>
          <a:prstGeom prst="roundRect">
            <a:avLst>
              <a:gd name="adj" fmla="val 101581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2679204" y="1619324"/>
            <a:ext cx="1151855" cy="14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lang="en-US" sz="9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products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2679204" y="1799183"/>
            <a:ext cx="1761232" cy="24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товары</a:t>
            </a:r>
            <a:r>
              <a:rPr lang="en-US" sz="7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7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цены</a:t>
            </a:r>
            <a:r>
              <a:rPr lang="en-US" sz="7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7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бренды</a:t>
            </a:r>
            <a:r>
              <a:rPr lang="en-US" sz="7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7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складские</a:t>
            </a:r>
            <a:r>
              <a:rPr lang="en-US" sz="7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7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остатки</a:t>
            </a:r>
            <a:endParaRPr sz="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601914" y="1517675"/>
            <a:ext cx="1993032" cy="626343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4592389" y="1517675"/>
            <a:ext cx="38100" cy="626343"/>
          </a:xfrm>
          <a:prstGeom prst="roundRect">
            <a:avLst>
              <a:gd name="adj" fmla="val 101581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4732139" y="1619324"/>
            <a:ext cx="1151855" cy="14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lang="en-US" sz="9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732139" y="1799183"/>
            <a:ext cx="1761158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покупатели и бонусные баллы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2552664" y="2192163"/>
            <a:ext cx="1989421" cy="516435"/>
          </a:xfrm>
          <a:prstGeom prst="roundRect">
            <a:avLst>
              <a:gd name="adj" fmla="val 7300"/>
            </a:avLst>
          </a:prstGeom>
          <a:solidFill>
            <a:srgbClr val="FFFFFF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2543138" y="2192163"/>
            <a:ext cx="45719" cy="516435"/>
          </a:xfrm>
          <a:prstGeom prst="roundRect">
            <a:avLst>
              <a:gd name="adj" fmla="val 101581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2682889" y="2293813"/>
            <a:ext cx="1149725" cy="118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lang="en-US" sz="9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orders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682889" y="2473672"/>
            <a:ext cx="1757976" cy="10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заказы</a:t>
            </a:r>
            <a:r>
              <a:rPr lang="en-US" sz="7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7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покупателей</a:t>
            </a:r>
            <a:endParaRPr sz="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96119" y="2203847"/>
            <a:ext cx="1993032" cy="504751"/>
          </a:xfrm>
          <a:prstGeom prst="roundRect">
            <a:avLst>
              <a:gd name="adj" fmla="val 9058"/>
            </a:avLst>
          </a:prstGeom>
          <a:solidFill>
            <a:srgbClr val="FFFFFF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486594" y="2203847"/>
            <a:ext cx="38100" cy="504751"/>
          </a:xfrm>
          <a:prstGeom prst="roundRect">
            <a:avLst>
              <a:gd name="adj" fmla="val 101581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626343" y="2305496"/>
            <a:ext cx="1151855" cy="143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Inter"/>
              <a:buNone/>
            </a:pPr>
            <a:r>
              <a:rPr lang="en-US" sz="9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order_items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26343" y="2485355"/>
            <a:ext cx="1761158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состав заказа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96119" y="2798415"/>
            <a:ext cx="2026444" cy="172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lang="en-US" sz="105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Основные сценарии работы: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96119" y="3060948"/>
            <a:ext cx="184249" cy="11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 Light"/>
              <a:buNone/>
            </a:pPr>
            <a:r>
              <a:rPr lang="en-US" sz="7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96119" y="3207916"/>
            <a:ext cx="4045967" cy="9525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496119" y="3273028"/>
            <a:ext cx="4045967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просмотр сводных показателей магазина;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601914" y="3060948"/>
            <a:ext cx="184249" cy="11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 Light"/>
              <a:buNone/>
            </a:pPr>
            <a:r>
              <a:rPr lang="en-US" sz="7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601914" y="3207916"/>
            <a:ext cx="4045967" cy="9525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4601914" y="3273028"/>
            <a:ext cx="4045967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просмотр каталога товаров с поиском и фильтрацией;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96119" y="3523506"/>
            <a:ext cx="184249" cy="11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 Light"/>
              <a:buNone/>
            </a:pPr>
            <a:r>
              <a:rPr lang="en-US" sz="7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496119" y="3670474"/>
            <a:ext cx="4045967" cy="9525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496119" y="3735586"/>
            <a:ext cx="4045967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добавление новых товаров и категорий;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601914" y="3523506"/>
            <a:ext cx="184249" cy="11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 Light"/>
              <a:buNone/>
            </a:pPr>
            <a:r>
              <a:rPr lang="en-US" sz="7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4601914" y="3670474"/>
            <a:ext cx="4045967" cy="9525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4601914" y="3735586"/>
            <a:ext cx="4045967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оформление заказа с автоматическим уменьшением остатков;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496119" y="3986064"/>
            <a:ext cx="184249" cy="11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 Light"/>
              <a:buNone/>
            </a:pPr>
            <a:r>
              <a:rPr lang="en-US" sz="7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496119" y="4133031"/>
            <a:ext cx="4045967" cy="9525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496119" y="4198144"/>
            <a:ext cx="4045967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просмотр истории продаж;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601914" y="3986064"/>
            <a:ext cx="184249" cy="115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 Light"/>
              <a:buNone/>
            </a:pPr>
            <a:r>
              <a:rPr lang="en-US" sz="700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06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601914" y="4133031"/>
            <a:ext cx="4045967" cy="9525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4601914" y="4198144"/>
            <a:ext cx="4045967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lang="en-US" sz="7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контроль товаров с низким остатком.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96119" y="4456137"/>
            <a:ext cx="8151763" cy="12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alibri"/>
              <a:buNone/>
            </a:pP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496119" y="484063"/>
            <a:ext cx="3731865" cy="35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АРХИТЕКТУРА СИСТЕМЫ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96119" y="1157362"/>
            <a:ext cx="8151763" cy="10567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496119" y="1362819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Архитектура приложения построена по клиент-серверной модели.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496119" y="1749103"/>
            <a:ext cx="1931566" cy="17621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477069" y="1749103"/>
            <a:ext cx="76200" cy="176219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714077" y="1909911"/>
            <a:ext cx="1552798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714077" y="2216423"/>
            <a:ext cx="1552798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HTML/CSS/JS отправляет запросы к backend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569443" y="1749103"/>
            <a:ext cx="1931640" cy="17621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2550393" y="1749103"/>
            <a:ext cx="76200" cy="176219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2787402" y="1909911"/>
            <a:ext cx="155287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787402" y="2216423"/>
            <a:ext cx="1552873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 обрабатывает запросы и выполняет бизнес-логику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642842" y="1749103"/>
            <a:ext cx="1931640" cy="17621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4623792" y="1749103"/>
            <a:ext cx="76200" cy="176219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4860801" y="1909911"/>
            <a:ext cx="1552873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Хранилище данных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860801" y="2437879"/>
            <a:ext cx="155287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Данные хранятся в SQLite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716241" y="1749103"/>
            <a:ext cx="1931640" cy="1762199"/>
          </a:xfrm>
          <a:prstGeom prst="roundRect">
            <a:avLst>
              <a:gd name="adj" fmla="val 5189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6697191" y="1749103"/>
            <a:ext cx="76200" cy="1762199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6934200" y="1909911"/>
            <a:ext cx="1552873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Интеграция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934200" y="2216423"/>
            <a:ext cx="1552873" cy="113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Взаимодействие между frontend и backend осуществляется через REST API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96119" y="3670771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2" name="Google Shape;212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877" y="3885828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956816" y="3847951"/>
            <a:ext cx="7549307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Браузер → статические файлы (HTML/CSS/JS) → Fetch API → app.py → SQLite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96119" y="4432622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/>
          <p:nvPr/>
        </p:nvSpPr>
        <p:spPr>
          <a:xfrm>
            <a:off x="496118" y="894307"/>
            <a:ext cx="4603163" cy="36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МАТЕМАТИЧЕСКИЕ МОДЕЛИ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496119" y="1387599"/>
            <a:ext cx="8151763" cy="8483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496118" y="1554594"/>
            <a:ext cx="8151763" cy="301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Для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управления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бонусной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программой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учёта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остатков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используются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простые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расчётные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формулы</a:t>
            </a:r>
            <a:r>
              <a:rPr lang="en-US" sz="11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496118" y="2000538"/>
            <a:ext cx="2656731" cy="1661517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427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481830" y="2000538"/>
            <a:ext cx="57150" cy="1661517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666674" y="2044151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Бонусные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1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баллы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66674" y="2266783"/>
            <a:ext cx="2358479" cy="892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Char char="•"/>
            </a:pP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Начисление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=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сумма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заказа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× </a:t>
            </a:r>
            <a:r>
              <a:rPr lang="en-US" sz="850" i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5%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целочисленно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Char char="•"/>
            </a:pP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Списание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850" i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балл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= </a:t>
            </a:r>
            <a:r>
              <a:rPr lang="en-US" sz="850" i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рубль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скидки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но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не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более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i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30%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от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суммы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заказа</a:t>
            </a: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243559" y="2000538"/>
            <a:ext cx="2656805" cy="1661517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427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3229272" y="2000538"/>
            <a:ext cx="57150" cy="1661517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3414116" y="2064385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Контроль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1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остатков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3362845" y="2245868"/>
            <a:ext cx="2494734" cy="135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Char char="•"/>
            </a:pP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Если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запрошенное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количество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≤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остаток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на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складе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заказ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оформляется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остаток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уменьшается</a:t>
            </a: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Char char="•"/>
            </a:pP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Если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запрошенное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количество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&gt;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остаток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на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складе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заказ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не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оформляется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выводится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предупреждение</a:t>
            </a: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991075" y="1994958"/>
            <a:ext cx="2656805" cy="1661517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427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976788" y="2000538"/>
            <a:ext cx="57150" cy="1661517"/>
          </a:xfrm>
          <a:prstGeom prst="roundRect">
            <a:avLst>
              <a:gd name="adj" fmla="val 83349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6161632" y="2061176"/>
            <a:ext cx="1508820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Сводные</a:t>
            </a:r>
            <a:r>
              <a:rPr lang="en-US" sz="11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1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показатели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6161632" y="2268120"/>
            <a:ext cx="2358554" cy="73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Char char="•"/>
            </a:pP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Общее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количество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товаров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клиентов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заказов</a:t>
            </a: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Char char="•"/>
            </a:pP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Сумма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всех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продаж</a:t>
            </a: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96118" y="3872304"/>
            <a:ext cx="8151763" cy="576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Сводные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показатели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позволяют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оценить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общую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картину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работы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магазина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выявить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товары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требующие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пополнения</a:t>
            </a:r>
            <a:r>
              <a:rPr lang="en-US" sz="120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96119" y="3820567"/>
            <a:ext cx="8151763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/>
          <p:nvPr/>
        </p:nvSpPr>
        <p:spPr>
          <a:xfrm>
            <a:off x="496119" y="418058"/>
            <a:ext cx="4416278" cy="50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РЕАЛИЗАЦИЯ СИСТЕМЫ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496119" y="911349"/>
            <a:ext cx="8151763" cy="8483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3"/>
          <p:cNvSpPr/>
          <p:nvPr/>
        </p:nvSpPr>
        <p:spPr>
          <a:xfrm>
            <a:off x="496119" y="1228651"/>
            <a:ext cx="403048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496119" y="1313929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96119" y="1545506"/>
            <a:ext cx="4030489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850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реализован</a:t>
            </a:r>
            <a:r>
              <a:rPr lang="en-US" sz="8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backend на Python с REST API;</a:t>
            </a:r>
            <a:endParaRPr sz="8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4617318" y="1228651"/>
            <a:ext cx="4030563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4617318" y="1313929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617318" y="1545506"/>
            <a:ext cx="4030563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реализован frontend с интерактивными страницами;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96119" y="2062981"/>
            <a:ext cx="403048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496119" y="2148260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База данных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96119" y="2379836"/>
            <a:ext cx="4030489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добавлена база данных SQLite с демонстрационными данными;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617318" y="2062981"/>
            <a:ext cx="4030563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4617318" y="2148260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Каталог товаров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617318" y="2379836"/>
            <a:ext cx="4030563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реализован каталог товаров с поиском и фильтром по категориям;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496119" y="2897312"/>
            <a:ext cx="403048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496119" y="2982590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Клиентская база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496119" y="3214167"/>
            <a:ext cx="4030489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добавлена клиентская база с бонусными баллами;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4617318" y="2897312"/>
            <a:ext cx="4030563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4617318" y="2982590"/>
            <a:ext cx="1537543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Оформление заказов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4617318" y="3214167"/>
            <a:ext cx="4030563" cy="326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реализовано оформление заказов с автоматическим списанием остатков;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496119" y="3894906"/>
            <a:ext cx="4030489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496119" y="3980185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История продаж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496119" y="4211762"/>
            <a:ext cx="4030489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добавлена история продаж;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4617318" y="3894906"/>
            <a:ext cx="4030563" cy="14288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4617318" y="3980185"/>
            <a:ext cx="1417662" cy="17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Низкий остаток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617318" y="4211762"/>
            <a:ext cx="4030563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реализован список товаров с низким остатком.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496119" y="4562103"/>
            <a:ext cx="8151763" cy="16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4"/>
          <p:cNvSpPr/>
          <p:nvPr/>
        </p:nvSpPr>
        <p:spPr>
          <a:xfrm>
            <a:off x="496119" y="720551"/>
            <a:ext cx="2835325" cy="35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ЗАКЛЮЧЕНИЕ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496119" y="1393850"/>
            <a:ext cx="8151763" cy="10567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496119" y="1599307"/>
            <a:ext cx="1931566" cy="2437284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477069" y="1599307"/>
            <a:ext cx="76200" cy="243728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714077" y="1760116"/>
            <a:ext cx="1552798" cy="664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Разработана информационная система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14077" y="2509540"/>
            <a:ext cx="1552798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для автоматизации работы магазина спортивных товаров;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2569443" y="1599307"/>
            <a:ext cx="1931640" cy="2437284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2550393" y="1599307"/>
            <a:ext cx="76200" cy="243728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2787402" y="1760116"/>
            <a:ext cx="1552873" cy="664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Основные функции реализованы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2787402" y="2509540"/>
            <a:ext cx="1552873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учёт товаров, клиентов, заказов, бонусная программа, контроль остатков;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4642842" y="1599307"/>
            <a:ext cx="1931640" cy="2437284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4623792" y="1599307"/>
            <a:ext cx="76200" cy="243728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4"/>
          <p:cNvSpPr/>
          <p:nvPr/>
        </p:nvSpPr>
        <p:spPr>
          <a:xfrm>
            <a:off x="4860801" y="1760116"/>
            <a:ext cx="1552873" cy="664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Управление стало наглядным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4860801" y="2509540"/>
            <a:ext cx="1552873" cy="1134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система позволяет наглядно управлять продажами и складскими запасами;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6716241" y="1599307"/>
            <a:ext cx="1931640" cy="2437284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90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6697191" y="1599307"/>
            <a:ext cx="76200" cy="243728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4"/>
          <p:cNvSpPr/>
          <p:nvPr/>
        </p:nvSpPr>
        <p:spPr>
          <a:xfrm>
            <a:off x="6934200" y="1760116"/>
            <a:ext cx="1552873" cy="44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lang="en-US" sz="1350" b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Потенциал для развития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6934200" y="2288084"/>
            <a:ext cx="1552873" cy="158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-US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проект может быть расширен добавлением ролей пользователей, построением графиков продаж и экспортом отчётов.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496119" y="4196060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 txBox="1"/>
          <p:nvPr/>
        </p:nvSpPr>
        <p:spPr>
          <a:xfrm>
            <a:off x="349637" y="413113"/>
            <a:ext cx="766865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5000"/>
              </a:lnSpc>
              <a:buSzPts val="2200"/>
            </a:pPr>
            <a:r>
              <a:rPr lang="en-US" sz="2000" b="1" dirty="0">
                <a:latin typeface="Inter"/>
                <a:ea typeface="Inter"/>
                <a:sym typeface="Calibri"/>
              </a:rPr>
              <a:t>ДЕМОНСТРАЦИЯ РАБОТЫ СИСТЕМЫ</a:t>
            </a:r>
            <a:endParaRPr sz="2000" b="1" dirty="0">
              <a:latin typeface="Inter"/>
              <a:ea typeface="Inter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8689910" y="4743450"/>
            <a:ext cx="26385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50" rIns="45700" bIns="2285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2026-05-12 14-29-12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2C7FBAA6-028F-4727-A4DD-0021B91A13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49637" y="867216"/>
            <a:ext cx="7499519" cy="40596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/>
          <p:nvPr/>
        </p:nvSpPr>
        <p:spPr>
          <a:xfrm>
            <a:off x="496119" y="1942802"/>
            <a:ext cx="8151763" cy="10567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2689882" y="2394570"/>
            <a:ext cx="3764235" cy="35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0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СПАСИБО ЗА ВНИМАНИЕ!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496119" y="2768352"/>
            <a:ext cx="81517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496119" y="3190056"/>
            <a:ext cx="8151763" cy="10567"/>
          </a:xfrm>
          <a:prstGeom prst="rect">
            <a:avLst/>
          </a:prstGeom>
          <a:solidFill>
            <a:srgbClr val="272525">
              <a:alpha val="5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696</Words>
  <Application>Microsoft Office PowerPoint</Application>
  <PresentationFormat>Экран (16:9)</PresentationFormat>
  <Paragraphs>148</Paragraphs>
  <Slides>12</Slides>
  <Notes>12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Inter</vt:lpstr>
      <vt:lpstr>Inter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Данил Рахманов</cp:lastModifiedBy>
  <cp:revision>8</cp:revision>
  <dcterms:modified xsi:type="dcterms:W3CDTF">2026-05-12T11:49:49Z</dcterms:modified>
</cp:coreProperties>
</file>